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22fd1a2-ed9f-8c77-cb7b-6947f3f4cb51}">
          <p14:sldIdLst>
            <p14:sldId id="256"/>
            <p14:sldId id="257"/>
            <p14:sldId id="258"/>
          </p14:sldIdLst>
        </p14:section>
        <p14:section name="Architecture and Spark" id="{c7788836-24ed-d9c8-51b5-9caf412c4bdd}">
          <p14:sldIdLst>
            <p14:sldId id="259"/>
            <p14:sldId id="260"/>
            <p14:sldId id="261"/>
            <p14:sldId id="262"/>
          </p14:sldIdLst>
        </p14:section>
        <p14:section name="Machine learning and results" id="{c69e3c31-39f6-78cf-3d94-40254c5cf071}">
          <p14:sldIdLst>
            <p14:sldId id="263"/>
            <p14:sldId id="264"/>
            <p14:sldId id="265"/>
          </p14:sldIdLst>
        </p14:section>
        <p14:section name="Conclusion" id="{bc9fb12b-7e1c-0be5-cf00-0838999e7d72}">
          <p14:sldIdLst>
            <p14:sldId id="266"/>
            <p14:sldId id="267"/>
          </p14:sldIdLst>
        </p14:section>
        <p14:section name="Backup" id="{c1e88158-6d06-5c14-94d6-f0a090a5c050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2430"/>
                </a:solidFill>
                <a:latin typeface="+mn-lt"/>
              </a:rPr>
              <a:t>Total time for 3 queries on 303.6 M rows (s, median of 3)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persistence</c:v>
                </c:pt>
              </c:strCache>
            </c:strRef>
          </c:tx>
          <c:spPr>
            <a:solidFill>
              <a:srgbClr val="1F5FBF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D475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8</c:v>
                  </c:pt>
                  <c:pt idx="1">
                    <c:v>24</c:v>
                  </c:pt>
                  <c:pt idx="2">
                    <c:v>96</c:v>
                  </c:pt>
                  <c:pt idx="3">
                    <c:v>384</c:v>
                  </c:pt>
                  <c:pt idx="4">
                    <c:v>AQE defaults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510</c:v>
                </c:pt>
                <c:pt idx="1">
                  <c:v>363</c:v>
                </c:pt>
                <c:pt idx="2">
                  <c:v>346</c:v>
                </c:pt>
                <c:pt idx="3">
                  <c:v>326</c:v>
                </c:pt>
                <c:pt idx="4">
                  <c:v>285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persist(MEMORY_AND_DISK)</c:v>
                </c:pt>
              </c:strCache>
            </c:strRef>
          </c:tx>
          <c:spPr>
            <a:solidFill>
              <a:srgbClr val="E0662B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D475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8</c:v>
                  </c:pt>
                  <c:pt idx="1">
                    <c:v>24</c:v>
                  </c:pt>
                  <c:pt idx="2">
                    <c:v>96</c:v>
                  </c:pt>
                  <c:pt idx="3">
                    <c:v>384</c:v>
                  </c:pt>
                  <c:pt idx="4">
                    <c:v>AQE defaults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1397</c:v>
                </c:pt>
                <c:pt idx="1">
                  <c:v>0</c:v>
                </c:pt>
                <c:pt idx="2">
                  <c:v>724</c:v>
                </c:pt>
                <c:pt idx="3">
                  <c:v>702</c:v>
                </c:pt>
                <c:pt idx="4">
                  <c:v>0</c:v>
                </c:pt>
              </c:numCache>
            </c:numRef>
          </c:val>
        </c:ser>
        <c:dLbls>
          <c:numFmt formatCode="#,##0;-#,##0;;" sourceLinked="0"/>
          <c:txPr>
            <a:bodyPr/>
            <a:lstStyle/>
            <a:p>
              <a:pPr>
                <a:defRPr b="0" i="0" strike="noStrike" sz="1100" u="none">
                  <a:solidFill>
                    <a:srgbClr val="3D475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675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675"/>
                    </a:solidFill>
                    <a:latin typeface="Arial"/>
                  </a:rPr>
                  <a:t>Partitions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D475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2430"/>
                </a:solidFill>
                <a:latin typeface="+mn-lt"/>
              </a:rPr>
              <a:t>Test RMSE by forecast horizon (lower is better; with climate features)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Regression</c:v>
                </c:pt>
              </c:strCache>
            </c:strRef>
          </c:tx>
          <c:spPr>
            <a:solidFill>
              <a:srgbClr val="B7C0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wk</c:v>
                  </c:pt>
                  <c:pt idx="1">
                    <c:v>2 wk</c:v>
                  </c:pt>
                  <c:pt idx="2">
                    <c:v>3 wk</c:v>
                  </c:pt>
                  <c:pt idx="3">
                    <c:v>4 wk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0.992</c:v>
                </c:pt>
                <c:pt idx="1">
                  <c:v>1.235</c:v>
                </c:pt>
                <c:pt idx="2">
                  <c:v>1.378</c:v>
                </c:pt>
                <c:pt idx="3">
                  <c:v>1.53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wk</c:v>
                  </c:pt>
                  <c:pt idx="1">
                    <c:v>2 wk</c:v>
                  </c:pt>
                  <c:pt idx="2">
                    <c:v>3 wk</c:v>
                  </c:pt>
                  <c:pt idx="3">
                    <c:v>4 wk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0.924</c:v>
                </c:pt>
                <c:pt idx="1">
                  <c:v>1.131</c:v>
                </c:pt>
                <c:pt idx="2">
                  <c:v>1.267</c:v>
                </c:pt>
                <c:pt idx="3">
                  <c:v>1.366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GBT (tuned)</c:v>
                </c:pt>
              </c:strCache>
            </c:strRef>
          </c:tx>
          <c:spPr>
            <a:solidFill>
              <a:srgbClr val="E066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wk</c:v>
                  </c:pt>
                  <c:pt idx="1">
                    <c:v>2 wk</c:v>
                  </c:pt>
                  <c:pt idx="2">
                    <c:v>3 wk</c:v>
                  </c:pt>
                  <c:pt idx="3">
                    <c:v>4 wk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0.929</c:v>
                </c:pt>
                <c:pt idx="1">
                  <c:v>1.13</c:v>
                </c:pt>
                <c:pt idx="2">
                  <c:v>1.267</c:v>
                </c:pt>
                <c:pt idx="3">
                  <c:v>1.382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ClimaFlu-GNN</c:v>
                </c:pt>
              </c:strCache>
            </c:strRef>
          </c:tx>
          <c:spPr>
            <a:solidFill>
              <a:srgbClr val="1F5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wk</c:v>
                  </c:pt>
                  <c:pt idx="1">
                    <c:v>2 wk</c:v>
                  </c:pt>
                  <c:pt idx="2">
                    <c:v>3 wk</c:v>
                  </c:pt>
                  <c:pt idx="3">
                    <c:v>4 wk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0.924</c:v>
                </c:pt>
                <c:pt idx="1">
                  <c:v>1.145</c:v>
                </c:pt>
                <c:pt idx="2">
                  <c:v>1.251</c:v>
                </c:pt>
                <c:pt idx="3">
                  <c:v>1.354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  <c:min val="0.8"/>
        </c:scaling>
        <c:delete val="0"/>
        <c:axPos val="l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D475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2430"/>
                </a:solidFill>
                <a:latin typeface="+mn-lt"/>
              </a:rPr>
              <a:t>Run time vs years of data, same 4 GB cap (s, log scale)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Spark (HDFS, 24 cores)</c:v>
                </c:pt>
              </c:strCache>
            </c:strRef>
          </c:tx>
          <c:spPr>
            <a:solidFill>
              <a:srgbClr val="1F5FBF"/>
            </a:solidFill>
            <a:ln w="31750" cap="flat">
              <a:solidFill>
                <a:srgbClr val="1F5F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D475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5FBF"/>
              </a:solidFill>
              <a:ln w="9525" cap="flat">
                <a:solidFill>
                  <a:srgbClr val="1F5F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  <c:pt idx="4">
                    <c:v>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7.6</c:v>
                </c:pt>
                <c:pt idx="1">
                  <c:v>16.5</c:v>
                </c:pt>
                <c:pt idx="2">
                  <c:v>20.9</c:v>
                </c:pt>
                <c:pt idx="3">
                  <c:v>38.4</c:v>
                </c:pt>
                <c:pt idx="4">
                  <c:v>90.1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pandas (chunked)</c:v>
                </c:pt>
              </c:strCache>
            </c:strRef>
          </c:tx>
          <c:spPr>
            <a:solidFill>
              <a:srgbClr val="E0662B"/>
            </a:solidFill>
            <a:ln w="31750" cap="flat">
              <a:solidFill>
                <a:srgbClr val="E066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D475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0662B"/>
              </a:solidFill>
              <a:ln w="9525" cap="flat">
                <a:solidFill>
                  <a:srgbClr val="E066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  <c:pt idx="4">
                    <c:v>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55.2</c:v>
                </c:pt>
                <c:pt idx="1">
                  <c:v>163.9</c:v>
                </c:pt>
                <c:pt idx="2">
                  <c:v>279.8</c:v>
                </c:pt>
                <c:pt idx="3">
                  <c:v>590.5</c:v>
                </c:pt>
                <c:pt idx="4">
                  <c:v>1619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D475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675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675"/>
                    </a:solidFill>
                    <a:latin typeface="Arial"/>
                  </a:rPr>
                  <a:t>Years of GHCN-Daily data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D475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title. One line: we forecast weekly flu activity for 50 US states using 26 years of climate data, processed on Hadoop and Spark.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flu timing differs by state and agencies need 1-4 week forecasts. Why big data: 34.6 GB, 968.9 million weather records; pandas could not hold even one year in a 4 GB memory cap. Objectives: Hadoop storage, Scala Spark processing, forecasting with Spark MLlib and a GNN, live streaming and a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dataset: NOAA GHCN-Daily, 26 yearly CSV files, 34.6 GB, 968.9 million records; the station file is fixed-width text. The target comes from CDC ILINet. Veracity: 1,060,351 quality-flagged values removed; weighted ILI is 99.85% missing at state level so we use unweighted ILI; New York and New York City are merged by summing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goes into HDFS. MapReduce on YARN computes totals; Spark with Scala cleans and joins the data and builds features. Spark MLlib models and our graph neural network forecast flu; Spark Structured Streaming processes a live climate feed; results go to a dashboard and back into HDFS.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Spark code uses the DataFrame API. The DAG breaks into stages at shuffles; we broadcast the small stations table so the 303.6 million weather rows are not shuffled for the join. Tuning: 8, 24, 96 and 384 partitions with and without caching; Adaptive Query Execution with default settings was fastest at 285 s. Caching was slower because the 3 GB heap forced spills, and at 24 partitions it ran out of memory (no bar).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code from WeatherPreprocess.scala (c is an alias for col). Every step is a DataFrame transformation; nothing runs until count or write (lazy evaluation). DISK_ONLY persistence avoids recomputing the 968.9 million-row read. The same filter in Hadoop MapReduce and in pandas gives exactly the same SHA-256 checksum.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Scala jobs are grouped by stage: ETL, Spark ML, streaming, tuning and checks. One entry point, run_pipeline.ps1, runs any stage or a single Spark job by name. Big-data code is in bigdata_pipeline, the Python machine-learning code in src.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Spark ML: features are the last four weeks of ILI plus trend and weekly climate. Three MLlib regressors in a Pipeline with VectorAssembler; the grid is tuned on 2022 only, never on the test years. The GNN builds a new climate-similarity graph every week. Every model is tested on the same 2023-2025 rows; differences are checked with the Diebold-Mariano test, Holm-corrected.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RMSE is in ILI percentage points; lower is better. The GNN has the lowest error at 3 and 4 weeks and ties Random Forest at 1 week. Against persistence the error drops 11% at 1 week and 17% at 4 weeks. The GNN beats the fixed-setting Spark GBT at 3 weeks (Holm-adjusted p = 0.017); against the tuned Random Forest and GBT the difference is not significant. Climate features lowered Random Forest error at every horizon.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Benchmark: identical workload and identical result checksum in Spark and pandas, each in a fresh container with the same 4 GB memory cap. On all 26 years Spark takes 90.1 s and chunked pandas 1,619 s, 18 times slower; in-memory pandas ran out of memory at 1 year. Streaming: 60 daily files, 5.97 million rows, 38.1 thousand rows per second against 15.3 thousand arriving, median 4.7 s from arrival to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 were mostly resources (one 8 GB Docker VM for the whole cluster) and messy public-health data. Honest limitation: the climate-similarity graph did not beat a model without a graph by a statistically significant margin. Conclusion: a complete, reproducible big-data pipeline whose forecasts beat the naive baseline by 11 to 17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paper: Zhao et al. 2026, IEEE TCSS. The repository holds all code, results, the PPT and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for questions about the cluster: NameNode page with live DataNodes; YARN page with the MapReduce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the dashboard reads only result files; the streaming chart shows arrival-to-output latency per micro-batch.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46888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ClimaFlu-GNN  ·  Big Data Analytics (23AID302)  ·  Group 04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vandanapumadhuhasini-ctrl/climate-adaptive-flu-forecasting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FD3F2"/>
                </a:solidFill>
              </a:rPr>
              <a:t>BIG DATA ANALYTICS (23AID302)  ·  FINAL PROJECT REVIEW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4173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ClimaFlu-GNN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24688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Climate-aware influenza forecasting on a Hadoop + Spark pipeline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3F2"/>
                </a:solidFill>
              </a:rPr>
              <a:t>HDFS · MapReduce on YARN · Spark (Scala, DataFrame API) · Spark MLlib · Structured Streaming · Graph Neural Network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BFD3F2"/>
                </a:solidFill>
              </a:rPr>
              <a:t>Group 04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Madhu Hasini — CB.AI.U4AID24060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Saanvika — CB.AI.U4AID24047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Dharshini — CB.AI.U4AID24013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148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BFD3F2"/>
                </a:solidFill>
              </a:rPr>
              <a:t>Faculty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SREEJA B P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Amrita Vishwa Vidyapeetham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statement, objectives and why Big Data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EEF3F9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49834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Flu (influenza-like illness, ILI) rises in each US state at a different time and strength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Health agencies need forecasts per state, 1–4 weeks ahead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Cold, dry weather is linked to flu, but climate data is huge and messy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6245352" y="123444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EEF3F9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73952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Big Data?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1828800"/>
            <a:ext cx="49834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26 years of daily weather: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34.6 GB, 968.9 million records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Plain pandas ran out of memory already at 1 year of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Needs distributed storage (HDFS) and parallel processing (MapReduce, Spark)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10" name="objective number"/>
          <p:cNvSpPr/>
          <p:nvPr/>
        </p:nvSpPr>
        <p:spPr>
          <a:xfrm>
            <a:off x="548640" y="4572000"/>
            <a:ext cx="548640" cy="548640"/>
          </a:xfrm>
          <a:prstGeom prst="ellipse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4805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Store and process ≥ 25 GB on Hadoop (HDFS + YARN)</a:t>
            </a:r>
            <a:endParaRPr lang="en-US" sz="1500" dirty="0"/>
          </a:p>
        </p:txBody>
      </p:sp>
      <p:sp>
        <p:nvSpPr>
          <p:cNvPr id="13" name="objective number"/>
          <p:cNvSpPr/>
          <p:nvPr/>
        </p:nvSpPr>
        <p:spPr>
          <a:xfrm>
            <a:off x="3346704" y="4572000"/>
            <a:ext cx="548640" cy="548640"/>
          </a:xfrm>
          <a:prstGeom prst="ellipse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46704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986784" y="44805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Clean and join climate + flu data with Scala Spark</a:t>
            </a:r>
            <a:endParaRPr lang="en-US" sz="1500" dirty="0"/>
          </a:p>
        </p:txBody>
      </p:sp>
      <p:sp>
        <p:nvSpPr>
          <p:cNvPr id="16" name="objective number"/>
          <p:cNvSpPr/>
          <p:nvPr/>
        </p:nvSpPr>
        <p:spPr>
          <a:xfrm>
            <a:off x="6144768" y="4572000"/>
            <a:ext cx="548640" cy="548640"/>
          </a:xfrm>
          <a:prstGeom prst="ellipse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44768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44805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Forecast weekly ILI for 50 states (Spark MLlib vs GNN)</a:t>
            </a:r>
            <a:endParaRPr lang="en-US" sz="1500" dirty="0"/>
          </a:p>
        </p:txBody>
      </p:sp>
      <p:sp>
        <p:nvSpPr>
          <p:cNvPr id="19" name="objective number"/>
          <p:cNvSpPr/>
          <p:nvPr/>
        </p:nvSpPr>
        <p:spPr>
          <a:xfrm>
            <a:off x="8942832" y="4572000"/>
            <a:ext cx="548640" cy="548640"/>
          </a:xfrm>
          <a:prstGeom prst="ellipse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42832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582912" y="44805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Stream live climate data and show it on a dashboard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source, size and the 4 V's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4690872"/>
                <a:gridCol w="24688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Dataset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Used for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GHCN-Daily climate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NOAA NCEI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34.6 GB, 26 yearly CSVs (2000–2025), 968.9 M records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daily TMAX, TMIN, PRCP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GHCN stations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NOAA NCEI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fixed-width text, 78,567 US stations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station → state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ILINet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CDC FluView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44,808 state-week rows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target: ILI %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NREVSS (3 tables)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CDC FluView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clinical and public-health lab results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lab context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Final table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our Spark ETL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40,408 state-weeks, 50 states, 2010–2025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every model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548640" y="3520440"/>
            <a:ext cx="5449824" cy="73152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35204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Volume: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34.6 GB in HDFS, 3 DataNodes, replication 2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190488" y="3520440"/>
            <a:ext cx="5449824" cy="73152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73368" y="35204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Velocity: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live feed of 60 daily files, 38.1 k rows/s processed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548640" y="4389120"/>
            <a:ext cx="5449824" cy="73152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43891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Variety: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CSV, fixed-width text, CSV with title line → Parquet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6190488" y="4389120"/>
            <a:ext cx="5449824" cy="73152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73368" y="43891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Veracity: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1.06 M quality-flagged values removed; NY + NYC merged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D4753"/>
                </a:solidFill>
              </a:rPr>
              <a:t>Key attributes: </a:t>
            </a:r>
            <a:pPr indent="0" marL="0">
              <a:buNone/>
            </a:pPr>
            <a:r>
              <a:rPr lang="en-US" sz="1400" dirty="0">
                <a:solidFill>
                  <a:srgbClr val="3D4753"/>
                </a:solidFill>
              </a:rPr>
              <a:t>GHCN: station ID, date, element, value, quality flag  ·  ILINet: state, year, week, ILI total, total patients, unweighted ILI 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architecture box"/>
          <p:cNvSpPr/>
          <p:nvPr/>
        </p:nvSpPr>
        <p:spPr>
          <a:xfrm>
            <a:off x="548640" y="137160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9050">
            <a:solidFill>
              <a:srgbClr val="1F5FB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71600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sources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3"/>
                </a:solidFill>
              </a:rPr>
              <a:t>NOAA climate 34.6 GB, CDC FluView</a:t>
            </a:r>
            <a:endParaRPr lang="en-US" sz="1600" dirty="0"/>
          </a:p>
        </p:txBody>
      </p:sp>
      <p:sp>
        <p:nvSpPr>
          <p:cNvPr id="5" name="flow arrow"/>
          <p:cNvSpPr/>
          <p:nvPr/>
        </p:nvSpPr>
        <p:spPr>
          <a:xfrm>
            <a:off x="2441448" y="1943100"/>
            <a:ext cx="393192" cy="0"/>
          </a:xfrm>
          <a:prstGeom prst="line">
            <a:avLst/>
          </a:prstGeom>
          <a:noFill/>
          <a:ln w="22225">
            <a:solidFill>
              <a:srgbClr val="7A8594"/>
            </a:solidFill>
            <a:prstDash val="solid"/>
            <a:tailEnd type="triangle"/>
          </a:ln>
        </p:spPr>
      </p:sp>
      <p:sp>
        <p:nvSpPr>
          <p:cNvPr id="6" name="architecture box"/>
          <p:cNvSpPr/>
          <p:nvPr/>
        </p:nvSpPr>
        <p:spPr>
          <a:xfrm>
            <a:off x="2852928" y="137160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9050">
            <a:solidFill>
              <a:srgbClr val="1F5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1371600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HDFS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3"/>
                </a:solidFill>
              </a:rPr>
              <a:t>NameNode + 3 DataNodes</a:t>
            </a:r>
            <a:endParaRPr lang="en-US" sz="1600" dirty="0"/>
          </a:p>
        </p:txBody>
      </p:sp>
      <p:sp>
        <p:nvSpPr>
          <p:cNvPr id="8" name="flow arrow"/>
          <p:cNvSpPr/>
          <p:nvPr/>
        </p:nvSpPr>
        <p:spPr>
          <a:xfrm>
            <a:off x="4745736" y="1943100"/>
            <a:ext cx="393192" cy="0"/>
          </a:xfrm>
          <a:prstGeom prst="line">
            <a:avLst/>
          </a:prstGeom>
          <a:noFill/>
          <a:ln w="22225">
            <a:solidFill>
              <a:srgbClr val="7A8594"/>
            </a:solidFill>
            <a:prstDash val="solid"/>
            <a:tailEnd type="triangle"/>
          </a:ln>
        </p:spPr>
      </p:sp>
      <p:sp>
        <p:nvSpPr>
          <p:cNvPr id="9" name="architecture box"/>
          <p:cNvSpPr/>
          <p:nvPr/>
        </p:nvSpPr>
        <p:spPr>
          <a:xfrm>
            <a:off x="5157216" y="137160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9050">
            <a:solidFill>
              <a:srgbClr val="1F5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30368" y="1371600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MapReduce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3"/>
                </a:solidFill>
              </a:rPr>
              <a:t>on YARN, 2 Python jobs</a:t>
            </a:r>
            <a:endParaRPr lang="en-US" sz="1600" dirty="0"/>
          </a:p>
        </p:txBody>
      </p:sp>
      <p:sp>
        <p:nvSpPr>
          <p:cNvPr id="11" name="flow arrow"/>
          <p:cNvSpPr/>
          <p:nvPr/>
        </p:nvSpPr>
        <p:spPr>
          <a:xfrm>
            <a:off x="7050024" y="1943100"/>
            <a:ext cx="393192" cy="0"/>
          </a:xfrm>
          <a:prstGeom prst="line">
            <a:avLst/>
          </a:prstGeom>
          <a:noFill/>
          <a:ln w="22225">
            <a:solidFill>
              <a:srgbClr val="7A8594"/>
            </a:solidFill>
            <a:prstDash val="solid"/>
            <a:tailEnd type="triangle"/>
          </a:ln>
        </p:spPr>
      </p:sp>
      <p:sp>
        <p:nvSpPr>
          <p:cNvPr id="12" name="architecture box"/>
          <p:cNvSpPr/>
          <p:nvPr/>
        </p:nvSpPr>
        <p:spPr>
          <a:xfrm>
            <a:off x="7461504" y="137160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9050">
            <a:solidFill>
              <a:srgbClr val="1F5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34656" y="1371600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Spark + Scala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3"/>
                </a:solidFill>
              </a:rPr>
              <a:t>clean, join, features (DataFrame)</a:t>
            </a:r>
            <a:endParaRPr lang="en-US" sz="1600" dirty="0"/>
          </a:p>
        </p:txBody>
      </p:sp>
      <p:sp>
        <p:nvSpPr>
          <p:cNvPr id="14" name="flow arrow"/>
          <p:cNvSpPr/>
          <p:nvPr/>
        </p:nvSpPr>
        <p:spPr>
          <a:xfrm>
            <a:off x="9354312" y="1943100"/>
            <a:ext cx="393192" cy="0"/>
          </a:xfrm>
          <a:prstGeom prst="line">
            <a:avLst/>
          </a:prstGeom>
          <a:noFill/>
          <a:ln w="22225">
            <a:solidFill>
              <a:srgbClr val="7A8594"/>
            </a:solidFill>
            <a:prstDash val="solid"/>
            <a:tailEnd type="triangle"/>
          </a:ln>
        </p:spPr>
      </p:sp>
      <p:sp>
        <p:nvSpPr>
          <p:cNvPr id="15" name="architecture box"/>
          <p:cNvSpPr/>
          <p:nvPr/>
        </p:nvSpPr>
        <p:spPr>
          <a:xfrm>
            <a:off x="9765792" y="137160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9050">
            <a:solidFill>
              <a:srgbClr val="1F5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38944" y="1371600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Spark MLlib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3"/>
                </a:solidFill>
              </a:rPr>
              <a:t>Linear Reg., Random Forest, GBT</a:t>
            </a:r>
            <a:endParaRPr lang="en-US" sz="1600" dirty="0"/>
          </a:p>
        </p:txBody>
      </p:sp>
      <p:sp>
        <p:nvSpPr>
          <p:cNvPr id="17" name="architecture box"/>
          <p:cNvSpPr/>
          <p:nvPr/>
        </p:nvSpPr>
        <p:spPr>
          <a:xfrm>
            <a:off x="9765792" y="301752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FDF0E9"/>
          </a:solidFill>
          <a:ln w="19050">
            <a:solidFill>
              <a:srgbClr val="E066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38944" y="3017520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ClimaFlu-GNN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3"/>
                </a:solidFill>
              </a:rPr>
              <a:t>PyTorch Geometric, climate graph</a:t>
            </a:r>
            <a:endParaRPr lang="en-US" sz="1600" dirty="0"/>
          </a:p>
        </p:txBody>
      </p:sp>
      <p:sp>
        <p:nvSpPr>
          <p:cNvPr id="19" name="flow arrow"/>
          <p:cNvSpPr/>
          <p:nvPr/>
        </p:nvSpPr>
        <p:spPr>
          <a:xfrm flipH="1">
            <a:off x="9354312" y="3589020"/>
            <a:ext cx="393192" cy="0"/>
          </a:xfrm>
          <a:prstGeom prst="line">
            <a:avLst/>
          </a:prstGeom>
          <a:noFill/>
          <a:ln w="22225">
            <a:solidFill>
              <a:srgbClr val="7A8594"/>
            </a:solidFill>
            <a:prstDash val="solid"/>
            <a:tailEnd type="triangle"/>
          </a:ln>
        </p:spPr>
      </p:sp>
      <p:sp>
        <p:nvSpPr>
          <p:cNvPr id="20" name="architecture box"/>
          <p:cNvSpPr/>
          <p:nvPr/>
        </p:nvSpPr>
        <p:spPr>
          <a:xfrm>
            <a:off x="7461504" y="301752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FDF0E9"/>
          </a:solidFill>
          <a:ln w="19050">
            <a:solidFill>
              <a:srgbClr val="E066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34656" y="3017520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Evaluation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3"/>
                </a:solidFill>
              </a:rPr>
              <a:t>2023–2025 test, statistical tests</a:t>
            </a:r>
            <a:endParaRPr lang="en-US" sz="1600" dirty="0"/>
          </a:p>
        </p:txBody>
      </p:sp>
      <p:sp>
        <p:nvSpPr>
          <p:cNvPr id="22" name="flow arrow"/>
          <p:cNvSpPr/>
          <p:nvPr/>
        </p:nvSpPr>
        <p:spPr>
          <a:xfrm flipH="1">
            <a:off x="7050024" y="3589020"/>
            <a:ext cx="393192" cy="0"/>
          </a:xfrm>
          <a:prstGeom prst="line">
            <a:avLst/>
          </a:prstGeom>
          <a:noFill/>
          <a:ln w="22225">
            <a:solidFill>
              <a:srgbClr val="7A8594"/>
            </a:solidFill>
            <a:prstDash val="solid"/>
            <a:tailEnd type="triangle"/>
          </a:ln>
        </p:spPr>
      </p:sp>
      <p:sp>
        <p:nvSpPr>
          <p:cNvPr id="23" name="architecture box"/>
          <p:cNvSpPr/>
          <p:nvPr/>
        </p:nvSpPr>
        <p:spPr>
          <a:xfrm>
            <a:off x="5157216" y="301752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9050">
            <a:solidFill>
              <a:srgbClr val="1F5FB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30368" y="3017520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Spark Streaming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3"/>
                </a:solidFill>
              </a:rPr>
              <a:t>live climate feed, 5 s batches</a:t>
            </a:r>
            <a:endParaRPr lang="en-US" sz="1600" dirty="0"/>
          </a:p>
        </p:txBody>
      </p:sp>
      <p:sp>
        <p:nvSpPr>
          <p:cNvPr id="25" name="flow arrow"/>
          <p:cNvSpPr/>
          <p:nvPr/>
        </p:nvSpPr>
        <p:spPr>
          <a:xfrm flipH="1">
            <a:off x="4745736" y="3589020"/>
            <a:ext cx="393192" cy="0"/>
          </a:xfrm>
          <a:prstGeom prst="line">
            <a:avLst/>
          </a:prstGeom>
          <a:noFill/>
          <a:ln w="22225">
            <a:solidFill>
              <a:srgbClr val="7A8594"/>
            </a:solidFill>
            <a:prstDash val="solid"/>
            <a:tailEnd type="triangle"/>
          </a:ln>
        </p:spPr>
      </p:sp>
      <p:sp>
        <p:nvSpPr>
          <p:cNvPr id="26" name="architecture box"/>
          <p:cNvSpPr/>
          <p:nvPr/>
        </p:nvSpPr>
        <p:spPr>
          <a:xfrm>
            <a:off x="2852928" y="301752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9050">
            <a:solidFill>
              <a:srgbClr val="1F5F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26080" y="3017520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Output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3"/>
                </a:solidFill>
              </a:rPr>
              <a:t>dashboard, results back in HDFS</a:t>
            </a:r>
            <a:endParaRPr lang="en-US" sz="1600" dirty="0"/>
          </a:p>
        </p:txBody>
      </p:sp>
      <p:sp>
        <p:nvSpPr>
          <p:cNvPr id="28" name="flow arrow down"/>
          <p:cNvSpPr/>
          <p:nvPr/>
        </p:nvSpPr>
        <p:spPr>
          <a:xfrm>
            <a:off x="10698480" y="2532888"/>
            <a:ext cx="0" cy="457200"/>
          </a:xfrm>
          <a:prstGeom prst="line">
            <a:avLst/>
          </a:prstGeom>
          <a:noFill/>
          <a:ln w="22225">
            <a:solidFill>
              <a:srgbClr val="7A8594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Blue: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Big Data layer (Hadoop, Spark, Scala)   ·   Orange: machine-learning layer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Everything runs in Docker containers (Hadoop cluster, Spark, PyTorch, dashboard)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One command runs every stage: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.\run_pipeline.ps1 &lt;stage&gt;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workflow: DataFrame, DAG, partitioning, caching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12064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One API: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all Spark code uses DataFrames (optimised by Catalyst); no RDD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Operations: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read CSV / text, filter, withColumn, broadcast join, groupBy + agg, pivot, write Parquet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DAG: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new stage starts at every shuffle; broadcasting 78 k stations avoids shuffling 303.6 M rows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Partitioning: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tested 8 / 24 / 96 / 384; Spark defaults with AQE were fastest (285 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Caching: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persist(MEMORY_AND_DISK) was slower under a 3 GB heap (702–1,397 s; out of memory at 24), so we recompute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0" y="1234440"/>
          <a:ext cx="5696712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 implementation: key code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6400800" cy="4892040"/>
          </a:xfrm>
          <a:prstGeom prst="roundRect">
            <a:avLst>
              <a:gd name="adj" fmla="val 1495"/>
            </a:avLst>
          </a:prstGeom>
          <a:solidFill>
            <a:srgbClr val="F7F9FC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Cleaning 968.9 M climate records (WeatherPreprocess.scala)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raw = spark.read.schema(weatherSchema)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.csv(s"$rawDir/*.csv")        // 26 CSVs in HDFS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cleaned = raw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.filter(c("id").startsWith("US"))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.filter(c("element").isin("TMAX","TMIN","PRCP"))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.filter(c("qflag").isNull || c("qflag") === "")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.withColumn("obs_date", to_date(c("date"), "yyyyMMdd"))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.withColumn("value_scaled", c("value") / 10.0)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.persist(StorageLevel.DISK_ONLY)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cleaned.write.mode("overwrite")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.partitionBy("element")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.parquet(s"$processedDir/weather_cleaned")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325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828800"/>
            <a:ext cx="4325112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Reads all 26 yearly CSVs from HDFS with a fixed schema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Keeps US stations, TMAX / TMIN / PRCP and values without a quality flag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Converts dates and scales values (tenths → units)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Writes 303.6 M rows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 Parquet, partitioned by element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Same filter as MapReduce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identical SHA-256 result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 Spark jobs and project structure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EEF3F9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 Spark jobs (DataFrame API)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498348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ETL: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Preprocess (stations + CDC files), WeatherPreprocess, BuildModelingTable, GraphConstruction, LagAwareFeaturesV3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Spark ML: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BaselineGBT, MLlibComparison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Streaming: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StreamingV2 (Structured Streaming)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Tuning: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BenchmarkWorkload, TuningExperiment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Checks: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DataChecks, DataFrameConsistency, PublishResultsToHdfs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6245352" y="123444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EEF3F9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73952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1874520"/>
            <a:ext cx="498348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run_pipeline.ps1: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entry point for every stage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docker-compose.yml: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Hadoop cluster (HDFS + YARN), Spark, PyTorch, dashboard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bigdata_pipeline/: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MapReduce (Python), Scala Spark jobs, dashboard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src/: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GNN models, evaluation, reports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results/, docs/: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results, graphs, project guide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578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Run everything:  </a:t>
            </a:r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.\run_pipeline.ps1 all</a:t>
            </a:r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     ·     one Spark job:  </a:t>
            </a:r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.\run_pipeline.ps1 job Preprocess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ML and deep learning pipeline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EEF3F9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ML (MLlib)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498348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Features: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ILI of the last 4 weeks + trend; weekly TMAX, TMIN, PRCP, day–night range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Algorithms: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Linear Regression, Random Forest, GBT (VectorAssembler → regressor)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Tuning: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ParamGridBuilder grids, best setting chosen on the 2022 validation year (RMSE)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45352" y="123444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DF0E9"/>
          </a:solidFill>
          <a:ln w="9525">
            <a:solidFill>
              <a:srgbClr val="F2C9B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73952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learning: ClimaFlu-GNN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1828800"/>
            <a:ext cx="498348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Graph: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rebuilt every week, linking states with similar climate (8 nearest)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Model: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graph convolution over climate + MLP over ILI history → forecast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Checks: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10 seeds per model; compared with no graph, random, static and map-based graphs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416052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2519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evaluation (same rules for every model)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7091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Train ≤ 2022  ·  test 2023–2025 (7,691 state-weeks)  ·  forecasts 1, 2, 3 and 4 weeks ahead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Diebold–Mariano test with Holm correction  ·  plan fixed before the runs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model comparison (test 2023–2025)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1206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Test RMSE (ILI %)</a:t>
                      </a:r>
                      <a:endParaRPr lang="en-US" sz="14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 week</a:t>
                      </a:r>
                      <a:endParaRPr lang="en-US" sz="14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 weeks</a:t>
                      </a:r>
                      <a:endParaRPr lang="en-US" sz="14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Persistence (last week)</a:t>
                      </a:r>
                      <a:endParaRPr lang="en-US" sz="14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1.038</a:t>
                      </a:r>
                      <a:endParaRPr lang="en-US" sz="14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1.479</a:t>
                      </a:r>
                      <a:endParaRPr lang="en-US" sz="14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Spark Linear Regression</a:t>
                      </a:r>
                      <a:endParaRPr lang="en-US" sz="14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0.992</a:t>
                      </a:r>
                      <a:endParaRPr lang="en-US" sz="14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1.378</a:t>
                      </a:r>
                      <a:endParaRPr lang="en-US" sz="14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Spark Random Forest</a:t>
                      </a:r>
                      <a:endParaRPr lang="en-US" sz="14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0.924</a:t>
                      </a:r>
                      <a:endParaRPr lang="en-US" sz="14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1.267</a:t>
                      </a:r>
                      <a:endParaRPr lang="en-US" sz="14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Spark GBT (tuned)</a:t>
                      </a:r>
                      <a:endParaRPr lang="en-US" sz="14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0.929</a:t>
                      </a:r>
                      <a:endParaRPr lang="en-US" sz="14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1.267</a:t>
                      </a:r>
                      <a:endParaRPr lang="en-US" sz="14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ClimaFlu-GNN (10 seeds)</a:t>
                      </a:r>
                      <a:endParaRPr lang="en-US" sz="14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0.924</a:t>
                      </a:r>
                      <a:endParaRPr lang="en-US" sz="14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1.251</a:t>
                      </a:r>
                      <a:endParaRPr lang="en-US" sz="14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703320"/>
            <a:ext cx="51206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GNN and tree models cut error 11–17 % vs persistence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GNN beats the fixed-setting Spark GBT at 3 weeks (p = 0.017); vs tuned MLlib: no significant gap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Insight: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states can plan staff and vaccines 3–4 weeks ahead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0" y="1234440"/>
          <a:ext cx="5696712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speed, streaming and consistency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EEF3F9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1554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18×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2331720" y="1234440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Spark faster than pandas on all 26 years (90.1 s vs 1,619 s)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548640" y="2450592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EEF3F9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50592"/>
            <a:ext cx="1554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38.1 k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2450592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rows/s processed by the stream (15.3 k/s arriving)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3666744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EEF3F9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666744"/>
            <a:ext cx="1554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 s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3666744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median streaming latency, each file processed exactly once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48640" y="4882896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EEF3F9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882896"/>
            <a:ext cx="1554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4882896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MapReduce = Spark = pandas: identical SHA-256</a:t>
            </a:r>
            <a:endParaRPr lang="en-US" sz="15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943600" y="1234440"/>
          <a:ext cx="5696712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Challenges, limitations, conclusion and future work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EEF3F9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498348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Hadoop + Spark on one 8 GB Docker VM: memory limits (3 GB Spark driver)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Messy CDC files: title lines, NY + NYC duplicates, 99.85 % missing weighted ILI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45352" y="12344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EEF3F9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73952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1828800"/>
            <a:ext cx="498348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Cluster runs on a single machine (all DataNodes on one host)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climate graph was not significantly better than a no-graph model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3721608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EEF3F9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8587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315968"/>
            <a:ext cx="498348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Full pipeline: HDFS → MapReduce → Spark → MLlib → Streaming → dashboard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34.6 GB processed; Spark 18× faster than pandas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Forecast error 11–17 % below persistence, 1–4 weeks ahead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6245352" y="3721608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EEF3F9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73952" y="38587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4315968"/>
            <a:ext cx="498348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Multi-node cluster, Spark on YARN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 humidity, vaccination and mobility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Live weekly CDC feed with forecast intervals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and GitHub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Y. Zhao et al., "A new two-way ensemble prediction for infectious diseases," IEEE Trans. Computational Social Systems, 2026 (base paper).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M. J. Menne et al., "An overview of the Global Historical Climatology Network-Daily database," J. Atmos. Oceanic Technol., 2012.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CDC, FluView Interactive: ILINet and NREVSS surveillance data.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J. Shaman, M. Kohn, "Absolute humidity modulates influenza survival, transmission, and seasonality," PNAS, 2009.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T. N. Kipf, M. Welling, "Semi-supervised classification with graph convolutional networks," ICLR, 2017.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M. Zaharia et al., "Apache Spark: a unified engine for big data processing," Commun. ACM, 2016.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J. Dean, S. Ghemawat, "MapReduce: simplified data processing on large clusters," OSDI, 2004.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F. X. Diebold, R. S. Mariano, "Comparing predictive accuracy," J. Business &amp; Economic Statistics, 1995.</a:t>
            </a:r>
            <a:endParaRPr lang="en-US" sz="1700" dirty="0"/>
          </a:p>
        </p:txBody>
      </p:sp>
      <p:sp>
        <p:nvSpPr>
          <p:cNvPr id="4" name="card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9525">
            <a:solidFill>
              <a:srgbClr val="C9D8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55321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GitHub:  </a:t>
            </a:r>
            <a:pPr indent="0" marL="0">
              <a:buNone/>
            </a:pPr>
            <a:r>
              <a:rPr lang="en-US" sz="1600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https://github.com/vandanapumadhuhasini-ctrl/climate-adaptive-flu-forecasting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Backup: Hadoop evidence (HDFS and YARN web UIs)</a:t>
            </a:r>
            <a:endParaRPr lang="en-US" sz="3200" dirty="0"/>
          </a:p>
        </p:txBody>
      </p:sp>
      <p:pic>
        <p:nvPicPr>
          <p:cNvPr id="3" name="screenshot" descr="HDFS NameNode (localhost:9870): 3 live DataNodes, safe mode o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94960" cy="37465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6235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753"/>
                </a:solidFill>
              </a:rPr>
              <a:t>HDFS NameNode (localhost:9870): 3 live DataNodes, safe mode off</a:t>
            </a:r>
            <a:endParaRPr lang="en-US" sz="1400" dirty="0"/>
          </a:p>
        </p:txBody>
      </p:sp>
      <p:pic>
        <p:nvPicPr>
          <p:cNvPr id="5" name="screenshot" descr="YARN (localhost:8088): both Python MapReduce jobs SUCCEED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80160"/>
            <a:ext cx="5394960" cy="37465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45352" y="56235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753"/>
                </a:solidFill>
              </a:rPr>
              <a:t>YARN (localhost:8088): both Python MapReduce jobs SUCCEEDED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Backup: dashboard and live streaming</a:t>
            </a:r>
            <a:endParaRPr lang="en-US" sz="3200" dirty="0"/>
          </a:p>
        </p:txBody>
      </p:sp>
      <p:pic>
        <p:nvPicPr>
          <p:cNvPr id="3" name="screenshot" descr="Streamlit dashboard (localhost:8501): 4 V's, cluster, forecasts, g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24" y="1280160"/>
            <a:ext cx="4780392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6235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753"/>
                </a:solidFill>
              </a:rPr>
              <a:t>Streamlit dashboard (localhost:8501): 4 V's, cluster, forecasts, graph</a:t>
            </a:r>
            <a:endParaRPr lang="en-US" sz="1400" dirty="0"/>
          </a:p>
        </p:txBody>
      </p:sp>
      <p:pic>
        <p:nvPicPr>
          <p:cNvPr id="5" name="screenshot" descr="Structured Streaming: 5.97 M rows, median latency 4.7 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80160"/>
            <a:ext cx="5394960" cy="389471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45352" y="56235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753"/>
                </a:solidFill>
              </a:rPr>
              <a:t>Structured Streaming: 5.97 M rows, median latency 4.7 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maFlu">
  <a:themeElements>
    <a:clrScheme name="ClimaFlu">
      <a:dk1>
        <a:srgbClr val="1C2430"/>
      </a:dk1>
      <a:lt1>
        <a:srgbClr val="FFFFFF"/>
      </a:lt1>
      <a:dk2>
        <a:srgbClr val="16365F"/>
      </a:dk2>
      <a:lt2>
        <a:srgbClr val="EEF3F9"/>
      </a:lt2>
      <a:accent1>
        <a:srgbClr val="1F5FBF"/>
      </a:accent1>
      <a:accent2>
        <a:srgbClr val="E0662B"/>
      </a:accent2>
      <a:accent3>
        <a:srgbClr val="2A9D8F"/>
      </a:accent3>
      <a:accent4>
        <a:srgbClr val="7A8594"/>
      </a:accent4>
      <a:accent5>
        <a:srgbClr val="9DB8E0"/>
      </a:accent5>
      <a:accent6>
        <a:srgbClr val="F2B28F"/>
      </a:accent6>
      <a:hlink>
        <a:srgbClr val="1F5FBF"/>
      </a:hlink>
      <a:folHlink>
        <a:srgbClr val="5B6675"/>
      </a:folHlink>
    </a:clrScheme>
    <a:fontScheme name="ClimaFl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ClimaFlu-GNN Final Project Review</dc:title>
  <dc:subject>PptxGenJS Presentation</dc:subject>
  <dc:creator>Group 04</dc:creator>
  <cp:lastModifiedBy>Group 04</cp:lastModifiedBy>
  <cp:revision>1</cp:revision>
  <dcterms:created xsi:type="dcterms:W3CDTF">2026-10-22T02:06:55Z</dcterms:created>
  <dcterms:modified xsi:type="dcterms:W3CDTF">2026-10-22T02:06:55Z</dcterms:modified>
</cp:coreProperties>
</file>